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  <p:embeddedFont>
      <p:font typeface="Spline Sans Medium"/>
      <p:regular r:id="rId201323"/>
    </p:embeddedFont>
    <p:embeddedFont>
      <p:font typeface="Spline Sans SemiBold"/>
      <p:regular r:id="rId201324"/>
    </p:embeddedFont>
    <p:embeddedFont>
      <p:font typeface="Spline Sans Bold"/>
      <p:regular r:id="rId201325"/>
    </p:embeddedFont>
    <p:embeddedFont>
      <p:font typeface="Spline Sans Light"/>
      <p:regular r:id="rId201326"/>
    </p:embeddedFont>
    <p:embeddedFont>
      <p:font typeface="Spline Sans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hyperlink" Target="https://github.com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899592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Customer Churn Intelligence Platform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69023" y="1818531"/>
            <a:ext cx="463495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End-to-End Customer Churn Analysis using Python, SQL, SQLite and Data Analytics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69023" y="2478584"/>
            <a:ext cx="5092154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Jayesh Suthar — Data Analytics Enthusiast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969023" y="2849612"/>
            <a:ext cx="2240310" cy="1394222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42333" y="3022922"/>
            <a:ext cx="18936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Outcome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142333" y="3329806"/>
            <a:ext cx="1893689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Actionable insights to reduce churn and increase CLTV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63593" y="2849612"/>
            <a:ext cx="2240384" cy="1394222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6903" y="3022922"/>
            <a:ext cx="18937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Deliverables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36903" y="3329806"/>
            <a:ext cx="1893763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EDA, CLTV analysis, CSAT assessment, reproducible code &amp; visuals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489124"/>
            <a:ext cx="4634954" cy="790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Problem — Why Churn Matters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40023" y="1476077"/>
            <a:ext cx="4634954" cy="656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churn reduces recurring revenue, increases acquisition costs, and erodes lifetime value. For subscription businesses, improving retention by a few percentage points delivers outsized ROI.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023" y="2279675"/>
            <a:ext cx="320055" cy="320055"/>
          </a:xfrm>
          <a:prstGeom prst="ellipse">
            <a:avLst/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5210" y="2321123"/>
            <a:ext cx="189607" cy="237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91195" y="2328565"/>
            <a:ext cx="4183782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1195" y="2604790"/>
            <a:ext cx="4183782" cy="21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erosion, lower CLTV, higher CAC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0023" y="3085728"/>
            <a:ext cx="320055" cy="320055"/>
          </a:xfrm>
          <a:prstGeom prst="ellipse">
            <a:avLst/>
          </a:prstGeom>
          <a:solidFill>
            <a:srgbClr val="0A081B"/>
          </a:solidFill>
          <a:ln w="14288">
            <a:solidFill>
              <a:srgbClr val="29D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210" y="3127177"/>
            <a:ext cx="189607" cy="237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91195" y="3134618"/>
            <a:ext cx="4183782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Primary objectives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91195" y="3410843"/>
            <a:ext cx="4183782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Identify at-risk customers, quantify CLTV, generate retention actions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0023" y="4110484"/>
            <a:ext cx="320055" cy="320055"/>
          </a:xfrm>
          <a:prstGeom prst="ellipse">
            <a:avLst/>
          </a:prstGeom>
          <a:solidFill>
            <a:srgbClr val="0A081B"/>
          </a:solidFill>
          <a:ln w="14288">
            <a:solidFill>
              <a:srgbClr val="37A7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210" y="4151933"/>
            <a:ext cx="189607" cy="237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91195" y="4159374"/>
            <a:ext cx="4183782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Stakeholder value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1195" y="4435599"/>
            <a:ext cx="4183782" cy="21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Direct recommendations for marketing, product, and support teams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017166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Dataset Overview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2051893"/>
            <a:ext cx="2999705" cy="16997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0877" y="1816075"/>
            <a:ext cx="5144988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Three integrated tables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0877" y="2201838"/>
            <a:ext cx="4687788" cy="8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Table — demographics, signup dates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Subscription Table — plan, charges, tenure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Support Table — CSAT, tickets, resolution time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920877" y="3262536"/>
            <a:ext cx="4687788" cy="19050"/>
          </a:xfrm>
          <a:prstGeom prst="roundRect">
            <a:avLst>
              <a:gd name="adj" fmla="val 60000"/>
            </a:avLst>
          </a:prstGeom>
          <a:solidFill>
            <a:srgbClr val="E0E4E6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0877" y="3493666"/>
            <a:ext cx="4687788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combined into a single analytical dataset via SQLite joins to enable cohort-level and individual customer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248147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Technology Stack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023" y="1985367"/>
            <a:ext cx="385763" cy="385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8667" y="1985367"/>
            <a:ext cx="33568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Python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18667" y="2292251"/>
            <a:ext cx="3356893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Pandas, NumPy, Matplotlib for ETL and visualization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8441" y="1985367"/>
            <a:ext cx="385763" cy="3857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084" y="1985367"/>
            <a:ext cx="33568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SQLite &amp; SQL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47084" y="2292251"/>
            <a:ext cx="3356893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Database integration, joins, aggregations, reproducible queries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023" y="3094658"/>
            <a:ext cx="385763" cy="3857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8667" y="3094658"/>
            <a:ext cx="33568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Jupyter &amp; VS Code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118667" y="3401541"/>
            <a:ext cx="3356893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Exploration, analysis notebooks, and reproducible code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8441" y="3094658"/>
            <a:ext cx="385763" cy="3857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47084" y="3094658"/>
            <a:ext cx="33568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GitHub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47084" y="3401541"/>
            <a:ext cx="335689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Version control and portfolio hosting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37927"/>
            <a:ext cx="8063954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Workflow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131" y="1142777"/>
            <a:ext cx="7805663" cy="29290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76007" y="3373344"/>
            <a:ext cx="1177315" cy="20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Feature Eng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92268" y="3373344"/>
            <a:ext cx="1177315" cy="20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16593" y="3373344"/>
            <a:ext cx="1177314" cy="20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 Queries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540918" y="3373344"/>
            <a:ext cx="1177315" cy="20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SQLite DB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32987" y="3373344"/>
            <a:ext cx="1177315" cy="20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Raw Dataset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0023" y="4234681"/>
            <a:ext cx="8063954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Reproducible pipeline from raw files to documented insights. Each stage includes unit-tested SQL or Python artifacts stored in Git.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84969"/>
            <a:ext cx="8063954" cy="3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Cleaning &amp; Feature Engineering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416918"/>
            <a:ext cx="5120060" cy="29013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1912" y="1307902"/>
            <a:ext cx="2596753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Cleaning steps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011912" y="1636588"/>
            <a:ext cx="2596753" cy="140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Removed duplicates and invalid records</a:t>
            </a:r>
            <a:endParaRPr lang="en-US" sz="1100" dirty="0"/>
          </a:p>
          <a:p>
            <a:pPr algn="l" marL="223520" indent="-22352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Handled missing values with rule-based imputation</a:t>
            </a:r>
            <a:endParaRPr lang="en-US" sz="1100" dirty="0"/>
          </a:p>
          <a:p>
            <a:pPr algn="l" marL="223520" indent="-22352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Standardized gender values and date formats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11912" y="3171602"/>
            <a:ext cx="2596753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Engineered features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11912" y="3500289"/>
            <a:ext cx="2596753" cy="1012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Age (derived from DOB)</a:t>
            </a:r>
            <a:endParaRPr lang="en-US" sz="1100" dirty="0"/>
          </a:p>
          <a:p>
            <a:pPr algn="l" marL="223520" indent="-22352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Tenure (days/months active)</a:t>
            </a:r>
            <a:endParaRPr lang="en-US" sz="1100" dirty="0"/>
          </a:p>
          <a:p>
            <a:pPr algn="l" marL="223520" indent="-22352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CSAT Category (Low / Medium / High)</a:t>
            </a:r>
            <a:endParaRPr lang="en-US" sz="1100" dirty="0"/>
          </a:p>
          <a:p>
            <a:pPr algn="l" marL="223520" indent="-22352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Churn Status (binary flag)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831428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Exploratory Data Analysis — Key Visuals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568648"/>
            <a:ext cx="542627" cy="3353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531" y="1568648"/>
            <a:ext cx="11357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Churn Distribution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75531" y="2089845"/>
            <a:ext cx="1135782" cy="222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Active customers outnumber churned customers — opportunity to improve retention for specific plans.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195" y="1568648"/>
            <a:ext cx="542627" cy="3353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39703" y="1568648"/>
            <a:ext cx="11358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Churn by Plan Type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39703" y="2089845"/>
            <a:ext cx="1135856" cy="172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Basic plan exhibits the highest churn rate; Premium &amp; Standard show stronger retention.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441" y="1568648"/>
            <a:ext cx="542627" cy="3353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03949" y="1568648"/>
            <a:ext cx="11357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Monthly Charges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403949" y="2089845"/>
            <a:ext cx="1135782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Skewed distribution with a concentration of low-charge customers—a segment at higher churn risk.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612" y="1568648"/>
            <a:ext cx="542627" cy="3353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68121" y="1568648"/>
            <a:ext cx="11358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CLTV Distribution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68121" y="2089845"/>
            <a:ext cx="1135856" cy="172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decile of customers account for a materially larger share of expected revenue.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Correlation Analysis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036" y="715714"/>
            <a:ext cx="6047929" cy="56729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2829" y="4873665"/>
            <a:ext cx="1209585" cy="15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Tenure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781585" y="4873665"/>
            <a:ext cx="1209585" cy="15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CLTV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967207" y="1698503"/>
            <a:ext cx="1209585" cy="15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Churn Score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871020" y="3134885"/>
            <a:ext cx="1209585" cy="15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Strong +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063394" y="3134885"/>
            <a:ext cx="1209585" cy="15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Neutral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21220" y="4873665"/>
            <a:ext cx="701560" cy="15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Strong −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45621" y="3664079"/>
            <a:ext cx="852758" cy="30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Focus: Retention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0023" y="6432054"/>
            <a:ext cx="8521154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Strong positive correlation: tenure &amp; CLTV. Strong negative correlation: churn score &amp; CLTV. These relationships guide prioritization of retention interventions.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978694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Insights — Executive Summary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0023" y="1715914"/>
            <a:ext cx="3954810" cy="114731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333" y="1889224"/>
            <a:ext cx="36081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Insight 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333" y="2196108"/>
            <a:ext cx="3608189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Basic plan customers have disproportionate churn—target for retention campaigns.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49093" y="1715914"/>
            <a:ext cx="3954884" cy="114731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22403" y="1889224"/>
            <a:ext cx="36082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Insight 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22403" y="2196108"/>
            <a:ext cx="3608263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Higher CLTV concentrated in long-tenure customers — invest in tenure-driven loyalty.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0023" y="3017490"/>
            <a:ext cx="3954810" cy="114731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333" y="3190801"/>
            <a:ext cx="36081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Insight 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333" y="3497684"/>
            <a:ext cx="3608189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Low CSAT correlates with elevated churn probability — improve support responsiveness.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49093" y="3017490"/>
            <a:ext cx="3954884" cy="114731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2403" y="3190801"/>
            <a:ext cx="36082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Insight 4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22403" y="3497684"/>
            <a:ext cx="3608263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Geographic variation suggests tailored regional retention strategies.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6913"/>
            <a:ext cx="8063954" cy="308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Recommendations &amp; Next Steps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023" y="944166"/>
            <a:ext cx="277267" cy="2772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0023" y="1321073"/>
            <a:ext cx="3896692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Retention Campaigns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0023" y="1554807"/>
            <a:ext cx="389669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Personalized offers for Basic plan customers and high-risk segments.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23" y="1866602"/>
            <a:ext cx="277267" cy="2772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0023" y="2243510"/>
            <a:ext cx="3896692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Support Improvements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40023" y="2477244"/>
            <a:ext cx="389669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Faster response SLAs and CSAT-driven follow-ups to reduce churn triggers.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023" y="2789039"/>
            <a:ext cx="277267" cy="2772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0023" y="3165946"/>
            <a:ext cx="3896692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Loyalty &amp; CLTV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540023" y="3399681"/>
            <a:ext cx="389669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Tiered rewards for longevity to protect high-CLTV cohorts.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0023" y="3711476"/>
            <a:ext cx="277267" cy="2772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0023" y="4088383"/>
            <a:ext cx="3896692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Product Roadmap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540023" y="4322118"/>
            <a:ext cx="38966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predictive churn models; deploy Power BI &amp; Streamlit dashboards for operations.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4712047" y="934194"/>
            <a:ext cx="3896692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Future Scope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712047" y="1167929"/>
            <a:ext cx="3896692" cy="693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5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Deploy ML churn prediction (binary classifier + explainability)</a:t>
            </a:r>
            <a:endParaRPr lang="en-US" sz="850" dirty="0"/>
          </a:p>
          <a:p>
            <a:pPr algn="l" marL="172720" indent="-172720">
              <a:lnSpc>
                <a:spcPct val="115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Interactive Power BI dashboard for stakeholders</a:t>
            </a:r>
            <a:endParaRPr lang="en-US" sz="850" dirty="0"/>
          </a:p>
          <a:p>
            <a:pPr algn="l" marL="172720" indent="-172720">
              <a:lnSpc>
                <a:spcPct val="115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Streamlit web app for operational intervention lists</a:t>
            </a:r>
            <a:endParaRPr lang="en-US" sz="850" dirty="0"/>
          </a:p>
          <a:p>
            <a:pPr algn="l" marL="172720" indent="-172720">
              <a:lnSpc>
                <a:spcPct val="115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Near real-time data pipeline &amp; automated reporting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4712047" y="1978372"/>
            <a:ext cx="3896692" cy="14288"/>
          </a:xfrm>
          <a:prstGeom prst="roundRect">
            <a:avLst>
              <a:gd name="adj" fmla="val 59998"/>
            </a:avLst>
          </a:prstGeom>
          <a:solidFill>
            <a:srgbClr val="E0E4E6">
              <a:alpha val="50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4712047" y="2110011"/>
            <a:ext cx="3896692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50"/>
              </a:spcAft>
              <a:buNone/>
            </a:pPr>
            <a:r>
              <a:rPr lang="en-US" sz="8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Repository &amp; Contact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GitHub: </a:t>
            </a:r>
            <a:pPr algn="l" indent="0" marL="0">
              <a:lnSpc>
                <a:spcPct val="115000"/>
              </a:lnSpc>
              <a:buNone/>
            </a:pPr>
            <a:r>
              <a:rPr lang="en-US" sz="850" b="1" u="sng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github.com/jayesh-suthar</a:t>
            </a:r>
            <a:pPr algn="l" indent="0" marL="0">
              <a:lnSpc>
                <a:spcPct val="115000"/>
              </a:lnSpc>
              <a:spcAft>
                <a:spcPts val="550"/>
              </a:spcAft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(portfolio)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Email: sutharjayesh607@gmail.com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6FFBB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2026-07-16T12:43:15Z</dcterms:created>
  <dcterms:modified xsi:type="dcterms:W3CDTF">2026-07-16T12:43:15Z</dcterms:modified>
</cp:coreProperties>
</file>